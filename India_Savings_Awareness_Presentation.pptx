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4045"/>
              </a:solidFill>
              <a:effectLst/>
            </c:spPr>
          </c:dPt>
          <c:dPt>
            <c:idx val="1"/>
            <c:bubble3D val="0"/>
            <c:spPr>
              <a:solidFill>
                <a:srgbClr val="F5803E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0D7A6B"/>
              </a:solidFill>
              <a:effectLst/>
            </c:spPr>
          </c:dPt>
          <c:dPt>
            <c:idx val="4"/>
            <c:bubble3D val="0"/>
            <c:spPr>
              <a:solidFill>
                <a:srgbClr val="0D2B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 savings (64%)</c:v>
                </c:pt>
                <c:pt idx="1">
                  <c:v>&lt;₹1K/mo (21%)</c:v>
                </c:pt>
                <c:pt idx="2">
                  <c:v>₹1K–5K/mo (10%)</c:v>
                </c:pt>
                <c:pt idx="3">
                  <c:v>₹5K–10K (3%)</c:v>
                </c:pt>
                <c:pt idx="4">
                  <c:v>&gt;₹10K (2%)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64</c:v>
                </c:pt>
                <c:pt idx="1">
                  <c:v>21</c:v>
                </c:pt>
                <c:pt idx="2">
                  <c:v>10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0D7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Don't earn enough</c:v>
                  </c:pt>
                  <c:pt idx="1">
                    <c:v>No direction</c:v>
                  </c:pt>
                  <c:pt idx="2">
                    <c:v>No fin. education</c:v>
                  </c:pt>
                  <c:pt idx="3">
                    <c:v>Fear of risk</c:v>
                  </c:pt>
                  <c:pt idx="4">
                    <c:v>High expenses</c:v>
                  </c:pt>
                  <c:pt idx="5">
                    <c:v>Procrastination</c:v>
                  </c:pt>
                  <c:pt idx="6">
                    <c:v>Distrust banks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</c:v>
                </c:pt>
                <c:pt idx="1">
                  <c:v>58</c:v>
                </c:pt>
                <c:pt idx="2">
                  <c:v>52</c:v>
                </c:pt>
                <c:pt idx="3">
                  <c:v>47</c:v>
                </c:pt>
                <c:pt idx="4">
                  <c:v>44</c:v>
                </c:pt>
                <c:pt idx="5">
                  <c:v>38</c:v>
                </c:pt>
                <c:pt idx="6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>
              <a:solidFill>
                <a:srgbClr val="D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3B"/>
                </a:solidFill>
                <a:latin typeface="Arial"/>
              </a:rPr>
              <a:t>Portfolio Value — ₹5,000/month invested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(12% return)</c:v>
                </c:pt>
              </c:strCache>
            </c:strRef>
          </c:tx>
          <c:spPr>
            <a:solidFill>
              <a:srgbClr val="0D7A6B"/>
            </a:solidFill>
            <a:ln w="31750" cap="flat">
              <a:solidFill>
                <a:srgbClr val="0D7A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A6B"/>
              </a:solidFill>
              <a:ln w="9525" cap="flat">
                <a:solidFill>
                  <a:srgbClr val="0D7A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64047</c:v>
                </c:pt>
                <c:pt idx="1">
                  <c:v>136216</c:v>
                </c:pt>
                <c:pt idx="2">
                  <c:v>217538</c:v>
                </c:pt>
                <c:pt idx="3">
                  <c:v>309174</c:v>
                </c:pt>
                <c:pt idx="4">
                  <c:v>412432</c:v>
                </c:pt>
                <c:pt idx="5">
                  <c:v>528785</c:v>
                </c:pt>
                <c:pt idx="6">
                  <c:v>659895</c:v>
                </c:pt>
                <c:pt idx="7">
                  <c:v>807633</c:v>
                </c:pt>
                <c:pt idx="8">
                  <c:v>974108</c:v>
                </c:pt>
                <c:pt idx="9">
                  <c:v>1161695</c:v>
                </c:pt>
                <c:pt idx="10">
                  <c:v>1373074</c:v>
                </c:pt>
                <c:pt idx="11">
                  <c:v>1611261</c:v>
                </c:pt>
                <c:pt idx="12">
                  <c:v>1879656</c:v>
                </c:pt>
                <c:pt idx="13">
                  <c:v>2182090</c:v>
                </c:pt>
                <c:pt idx="14">
                  <c:v>2522880</c:v>
                </c:pt>
                <c:pt idx="15">
                  <c:v>2906891</c:v>
                </c:pt>
                <c:pt idx="16">
                  <c:v>3339604</c:v>
                </c:pt>
                <c:pt idx="17">
                  <c:v>3827196</c:v>
                </c:pt>
                <c:pt idx="18">
                  <c:v>4376627</c:v>
                </c:pt>
                <c:pt idx="19">
                  <c:v>4995740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Savings Account (3.5%)</c:v>
                </c:pt>
              </c:strCache>
            </c:strRef>
          </c:tx>
          <c:spPr>
            <a:solidFill>
              <a:srgbClr val="8AAAB8"/>
            </a:solidFill>
            <a:ln w="31750" cap="flat">
              <a:solidFill>
                <a:srgbClr val="8AAA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AAB8"/>
              </a:solidFill>
              <a:ln w="9525" cap="flat">
                <a:solidFill>
                  <a:srgbClr val="8AAA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61800</c:v>
                </c:pt>
                <c:pt idx="1">
                  <c:v>124812</c:v>
                </c:pt>
                <c:pt idx="2">
                  <c:v>189090</c:v>
                </c:pt>
                <c:pt idx="3">
                  <c:v>254694</c:v>
                </c:pt>
                <c:pt idx="4">
                  <c:v>321684</c:v>
                </c:pt>
                <c:pt idx="5">
                  <c:v>390119</c:v>
                </c:pt>
                <c:pt idx="6">
                  <c:v>460062</c:v>
                </c:pt>
                <c:pt idx="7">
                  <c:v>531574</c:v>
                </c:pt>
                <c:pt idx="8">
                  <c:v>604718</c:v>
                </c:pt>
                <c:pt idx="9">
                  <c:v>679558</c:v>
                </c:pt>
                <c:pt idx="10">
                  <c:v>756157</c:v>
                </c:pt>
                <c:pt idx="11">
                  <c:v>834580</c:v>
                </c:pt>
                <c:pt idx="12">
                  <c:v>914891</c:v>
                </c:pt>
                <c:pt idx="13">
                  <c:v>997155</c:v>
                </c:pt>
                <c:pt idx="14">
                  <c:v>1081438</c:v>
                </c:pt>
                <c:pt idx="15">
                  <c:v>1167806</c:v>
                </c:pt>
                <c:pt idx="16">
                  <c:v>1256326</c:v>
                </c:pt>
                <c:pt idx="17">
                  <c:v>1347064</c:v>
                </c:pt>
                <c:pt idx="18">
                  <c:v>1440088</c:v>
                </c:pt>
                <c:pt idx="19">
                  <c:v>1535466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2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2B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A9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A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Urban
Salaried</c:v>
                  </c:pt>
                  <c:pt idx="1">
                    <c:v>Rural
Households</c:v>
                  </c:pt>
                  <c:pt idx="2">
                    <c:v>Women
(Overall)</c:v>
                  </c:pt>
                  <c:pt idx="3">
                    <c:v>Youth
18–25</c:v>
                  </c:pt>
                  <c:pt idx="4">
                    <c:v>National
Average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5.8</c:v>
                </c:pt>
                <c:pt idx="1">
                  <c:v>2.9</c:v>
                </c:pt>
                <c:pt idx="2">
                  <c:v>3.4</c:v>
                </c:pt>
                <c:pt idx="3">
                  <c:v>4.2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D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0"/>
            <a:ext cx="8686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SAVINGS AWARENESS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Savings Gap · SIP &amp; SWP Education · Action Plan for Every Indian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1920240" cy="1554480"/>
          </a:xfrm>
          <a:prstGeom prst="rect">
            <a:avLst/>
          </a:prstGeom>
          <a:solidFill>
            <a:srgbClr val="0D7A6B">
              <a:alpha val="40000"/>
            </a:srgbClr>
          </a:solidFill>
          <a:ln w="19050">
            <a:solidFill>
              <a:srgbClr val="14A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surveyed Indians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194560"/>
            <a:ext cx="1920240" cy="1554480"/>
          </a:xfrm>
          <a:prstGeom prst="rect">
            <a:avLst/>
          </a:prstGeom>
          <a:solidFill>
            <a:srgbClr val="0D7A6B">
              <a:alpha val="40000"/>
            </a:srgbClr>
          </a:solidFill>
          <a:ln w="19050">
            <a:solidFill>
              <a:srgbClr val="14A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₹4,200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household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2194560"/>
            <a:ext cx="1920240" cy="1554480"/>
          </a:xfrm>
          <a:prstGeom prst="rect">
            <a:avLst/>
          </a:prstGeom>
          <a:solidFill>
            <a:srgbClr val="0D7A6B">
              <a:alpha val="40000"/>
            </a:srgbClr>
          </a:solidFill>
          <a:ln w="19050">
            <a:solidFill>
              <a:srgbClr val="14A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0916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Awareness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heard of SIP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2194560"/>
            <a:ext cx="1920240" cy="1554480"/>
          </a:xfrm>
          <a:prstGeom prst="rect">
            <a:avLst/>
          </a:prstGeom>
          <a:solidFill>
            <a:srgbClr val="0D7A6B">
              <a:alpha val="40000"/>
            </a:srgbClr>
          </a:solidFill>
          <a:ln w="19050">
            <a:solidFill>
              <a:srgbClr val="14A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Invest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start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SEBI Investor Survey 2023 · RBI Household Finance Report · AMFI Annual Report 2023–24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 Challenge Facing India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572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one of the fastest-growing economies globally, yet a stark savings gap exists at the household level. A vast majority of Indians — particularly in lower and middle-income brackets — have little to no financial buffer against emergencies.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572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4028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proliferation of digital banking and fintech, awareness of structured investment products such as SIP (Systematic Investment Plans) and SWP (Systematic Withdrawal Plans) remains critically low, with only 38% of surveyed Indians having heard of SIP.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4572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 scores reveal deep inequalities: urban workers average 5.8/10, while rural households score just 2.9/10, and women overall average 3.4/10 — highlighting the need for targeted intervention.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023360"/>
            <a:ext cx="4572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97764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synthesizes data from SEBI Investor Survey 2023, RBI Household Finance Survey 2021, and AMFI Annual Report 2023–24 to provide a comprehensive picture of savings behavior and awareness across India.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Tells 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114800" cy="2743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Investor Survey 2023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64% of Indian households have zero savings. The top barriers identified were insufficient income (71%), lack of financial direction (58%), and poor financial education (52%).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Household Finance Survey 2021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that 94% of households save less than ₹5,000/month. Average monthly household savings stood at ₹4,200 — inadequate to build meaningful wealth or withstand emergencies.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4114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Annual Report 2023–24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8.99 crore active SIP accounts with an average ticket size of ₹2,500. Yet only 8.5% of Indians currently invest in SIPs, suggesting massive untapped potential.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Financial Literacy Survey 2023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291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financial literacy score averaged 4.0/10. Rural households (2.9/10) and women (3.4/10) were significantly below urban salaried workers (5.8/10), signaling an equity gap in financial access.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A98A"/>
          </a:solidFill>
          <a:ln w="12700">
            <a:solidFill>
              <a:srgbClr val="14A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898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Savings Gap  —  Measure the proportion of Indian households with zero or inadequate savings and estimate the magnitude of the gap across income and geographic segments.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84832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Barriers to Saving  —  Analyze the primary obstacles preventing Indians from saving, including income constraints, financial illiteracy, fear of investment risk, and behavioral factors.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841248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8163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SIP &amp; SWP Awareness  —  Evaluate current levels of awareness, adoption, and perception of Systematic Investment Plans (SIP) and Systematic Withdrawal Plans (SWP) among Indian households.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841248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295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Investment Impact  —  Quantify the long-term wealth difference between traditional savings accounts and SIP mutual funds to motivate behavioral change.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014216"/>
            <a:ext cx="841248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224528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428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Actionable Solutions  —  Develop a practical, evidence-based 5-step savings and investment action plan accessible to all income levels, with emphasis on low-barrier entry points.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RESULTS  ·  Savings Behavior &amp; Barriers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 Distribution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9728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731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Barriers to Saving (%)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6344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RESULTS  ·  SIP vs Savings Account — 20-Year Projection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914400"/>
          <a:ext cx="2743200" cy="3200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A/c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Invested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₹12,00,000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₹17,28,000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₹49,95,740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Gained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₹5,28,000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₹37,95,740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Multiple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2648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just ₹5,000/month — the SIP investor accumulates 4× more wealth than a savings account holder over 20 years.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RESULTS  ·  Financial Literacy &amp; SIP/SWP Awareness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 Scores (out of 10)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9728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/ SWP Awareness Funnel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280160"/>
            <a:ext cx="3931920" cy="640080"/>
          </a:xfrm>
          <a:prstGeom prst="rect">
            <a:avLst/>
          </a:prstGeom>
          <a:solidFill>
            <a:srgbClr val="E8EEEC"/>
          </a:solidFill>
          <a:ln w="12700">
            <a:solidFill>
              <a:srgbClr val="E8EE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280160"/>
            <a:ext cx="1494130" cy="64008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of SIP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13533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2148840"/>
            <a:ext cx="3931920" cy="640080"/>
          </a:xfrm>
          <a:prstGeom prst="rect">
            <a:avLst/>
          </a:prstGeom>
          <a:solidFill>
            <a:srgbClr val="E8EEEC"/>
          </a:solidFill>
          <a:ln w="12700">
            <a:solidFill>
              <a:srgbClr val="E8EE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148840"/>
            <a:ext cx="2044598" cy="640080"/>
          </a:xfrm>
          <a:prstGeom prst="rect">
            <a:avLst/>
          </a:prstGeom>
          <a:solidFill>
            <a:srgbClr val="14A98A"/>
          </a:solidFill>
          <a:ln w="12700">
            <a:solidFill>
              <a:srgbClr val="14A9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221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Start SIP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22219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46320" y="3017520"/>
            <a:ext cx="3931920" cy="640080"/>
          </a:xfrm>
          <a:prstGeom prst="rect">
            <a:avLst/>
          </a:prstGeom>
          <a:solidFill>
            <a:srgbClr val="E8EEEC"/>
          </a:solidFill>
          <a:ln w="12700">
            <a:solidFill>
              <a:srgbClr val="E8EE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3017520"/>
            <a:ext cx="334213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090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Investing in SIP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0" y="30906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3886200"/>
            <a:ext cx="3931920" cy="640080"/>
          </a:xfrm>
          <a:prstGeom prst="rect">
            <a:avLst/>
          </a:prstGeom>
          <a:solidFill>
            <a:srgbClr val="E8EEEC"/>
          </a:solidFill>
          <a:ln w="12700">
            <a:solidFill>
              <a:srgbClr val="E8EE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3886200"/>
            <a:ext cx="471830" cy="64008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3959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SWP Is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0" y="39593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4632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8.99 crore active SIP accounts · Avg ticket size ₹2,500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73152" cy="15087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Not the Only Barrier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71% cite insufficient income as a barrier, 38% also report not knowing where to start. This points to a behavioral and educational gap — many individuals could save more, but lack the framework and confidence to begin. The 52% willing to invest, vs the 8.5% who actually do, underlines this 'intention-action' gap.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73152" cy="1508760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Chasm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5564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20-year SIP projection reveals a 4.16× return versus 1.44× for a savings account — a gap of over ₹32 lakhs on identical contributions. This demonstrates that the cost of financial inaction is not merely lost returns, but a compounding wealth deficit that widens with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73152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Gaps in Financial Literacy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4728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households (2.9/10) and women (3.4/10) score far below urban salaried workers (5.8/10). This is not a capability gap — it is an access and exposure gap. Targeted outreach in regional languages and women-led financial literacy programs are critical to bridging this divide.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E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63240"/>
            <a:ext cx="73152" cy="15087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SWP: The Underutilized Retirement Tool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44728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12% of respondents know what SWP is — despite it offering tax-efficient (10% LTCG vs 30% FD interest), flexible retirement income. A ₹50 lakh corpus on SWP at 10% return can sustain ₹25,000/month withdrawals for 30+ years. Awareness campaigns must pair SIP education with SWP planning.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 &amp; ACTION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Savings Gap — A 5-Step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600200" cy="3200400"/>
          </a:xfrm>
          <a:prstGeom prst="rect">
            <a:avLst/>
          </a:prstGeom>
          <a:solidFill>
            <a:srgbClr val="0F2035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 expense for 30 days. Use a notebook or free app. Awareness is the first step to change.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1417320"/>
            <a:ext cx="1600200" cy="3200400"/>
          </a:xfrm>
          <a:prstGeom prst="rect">
            <a:avLst/>
          </a:prstGeom>
          <a:solidFill>
            <a:srgbClr val="0F2035"/>
          </a:solidFill>
          <a:ln w="25400">
            <a:solidFill>
              <a:srgbClr val="14A9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554480"/>
            <a:ext cx="594360" cy="594360"/>
          </a:xfrm>
          <a:prstGeom prst="ellipse">
            <a:avLst/>
          </a:prstGeom>
          <a:solidFill>
            <a:srgbClr val="14A98A"/>
          </a:solidFill>
          <a:ln w="12700">
            <a:solidFill>
              <a:srgbClr val="14A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39112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0552" y="26974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50/30/20 rule — 50% needs, 30% wants, 20% savings. Start with ₹500/month if needed.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58184" y="1417320"/>
            <a:ext cx="1600200" cy="3200400"/>
          </a:xfrm>
          <a:prstGeom prst="rect">
            <a:avLst/>
          </a:prstGeom>
          <a:solidFill>
            <a:srgbClr val="0F2035"/>
          </a:solidFill>
          <a:ln w="25400">
            <a:solidFill>
              <a:srgbClr val="D640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1104" y="1554480"/>
            <a:ext cx="594360" cy="59436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1104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58184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9624" y="26974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3–6 months of expenses in a liquid fund before investing. This is non-negotiable.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77256" y="1417320"/>
            <a:ext cx="1600200" cy="3200400"/>
          </a:xfrm>
          <a:prstGeom prst="rect">
            <a:avLst/>
          </a:prstGeom>
          <a:solidFill>
            <a:srgbClr val="0F2035"/>
          </a:solidFill>
          <a:ln w="25400">
            <a:solidFill>
              <a:srgbClr val="0D7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1554480"/>
            <a:ext cx="594360" cy="594360"/>
          </a:xfrm>
          <a:prstGeom prst="ellipse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0176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77256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68696" y="26974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₹500/month in an index fund. Increase by 10% every year. Time in market beats timing the market.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96328" y="1417320"/>
            <a:ext cx="1600200" cy="3200400"/>
          </a:xfrm>
          <a:prstGeom prst="rect">
            <a:avLst/>
          </a:prstGeom>
          <a:solidFill>
            <a:srgbClr val="0F203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99248" y="1554480"/>
            <a:ext cx="594360" cy="5943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96328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87768" y="2697480"/>
            <a:ext cx="1417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auto-debit on salary day. Save before you spend. Automation removes the decision.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savings crisis is solvable — not through large incomes, but through consistent small actions, financial education, and the power of compounding.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914400" cy="5303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2023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84124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Investor Survey 2023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07899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and Exchange Board of India — Annual Investor Survey. Data on savings behavior, barriers, and awareness across urban and semi-urban Indians.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914400" cy="5303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93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HFS 2021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62763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Household Finance Survey 2021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86537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 of India — Comprehensive survey of household financial behavior, savings rates, and asset allocation across income quintiles.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914400" cy="5303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9572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2023–24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414016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Annual Report 2023–24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6517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of Mutual Funds in India — SIP account data, ticket sizes, AUM, and investor penetration statistics for mutual fund industry.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914400" cy="5303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8211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FLS 2023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32004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Financial Literacy Survey 2023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43814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 of India — Financial literacy scores by demographic group including urban/rural, gender, and age cohort breakdowns.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68496"/>
            <a:ext cx="914400" cy="5303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684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3986784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Investor Education &amp; Protection Fund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22452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guidelines and educational resources on SIP, SWP, ELSS, and tax-efficient investment structures.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Savings Awareness: Understanding the Savings Gap</dc:title>
  <dc:subject>PptxGenJS Presentation</dc:subject>
  <dc:creator>PptxGenJS</dc:creator>
  <cp:lastModifiedBy>PptxGenJS</cp:lastModifiedBy>
  <cp:revision>1</cp:revision>
  <dcterms:created xsi:type="dcterms:W3CDTF">2026-05-19T08:27:42Z</dcterms:created>
  <dcterms:modified xsi:type="dcterms:W3CDTF">2026-05-19T08:27:42Z</dcterms:modified>
</cp:coreProperties>
</file>